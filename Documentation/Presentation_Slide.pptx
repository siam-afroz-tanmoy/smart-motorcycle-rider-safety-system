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Bold"/>
      <p:regular r:id="rId201317"/>
    </p:embeddedFont>
    <p:embeddedFont>
      <p:font typeface="Montserrat SemiBold"/>
      <p:regular r:id="rId201318"/>
    </p:embeddedFont>
    <p:embeddedFont>
      <p:font typeface="Montserrat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16" y="0"/>
            <a:ext cx="482587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156" y="457200"/>
            <a:ext cx="672448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WORKING PROTOTYPE</a:t>
            </a:r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 · SAFETY SYSTEM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5156" y="725785"/>
            <a:ext cx="6114897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spc="-100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Smart Helmet, Safer Ride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65156" y="1993205"/>
            <a:ext cx="6114897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 integrated rider-safety prototype that verifies, monitors, and responds.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65156" y="2890341"/>
            <a:ext cx="2017761" cy="38100"/>
          </a:xfrm>
          <a:prstGeom prst="roundRect">
            <a:avLst>
              <a:gd name="adj" fmla="val 49999"/>
            </a:avLst>
          </a:prstGeom>
          <a:solidFill>
            <a:srgbClr val="1E8F5A"/>
          </a:solidFill>
          <a:ln/>
        </p:spPr>
      </p:sp>
      <p:sp>
        <p:nvSpPr>
          <p:cNvPr id="7" name="Text 4"/>
          <p:cNvSpPr/>
          <p:nvPr/>
        </p:nvSpPr>
        <p:spPr>
          <a:xfrm>
            <a:off x="765156" y="3172916"/>
            <a:ext cx="6114897" cy="192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VERIFY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RC522 RFID authenticates the rider and moves the system from LOCKED to ARMED.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MONITOR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ESP32-CAM + VLM assess helmet use and visible drowsiness while sensors keep watch.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RESPOND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A probable crash starts a cancellation window before Telegram escalation.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5156" y="5284688"/>
            <a:ext cx="611489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spc="17" kern="100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Built as a working prototype:</a:t>
            </a:r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ESP32 DevKit + ESP32-CAM on a 3D-printed helmet body, with OLED status, buzzer feedback and live monitoring.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85516"/>
            <a:ext cx="4084238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RISK WINDOW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611338"/>
            <a:ext cx="3474653" cy="1201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74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Motorcycle safety breaks down in moments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3976291"/>
            <a:ext cx="347465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Several small failures can compound before help is even requested.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497" y="609600"/>
            <a:ext cx="2834609" cy="1599009"/>
          </a:xfrm>
          <a:prstGeom prst="rect">
            <a:avLst/>
          </a:prstGeom>
          <a:solidFill>
            <a:srgbClr val="1F4F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091" y="838200"/>
            <a:ext cx="472468" cy="47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091" y="1405533"/>
            <a:ext cx="2377420" cy="574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2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Helmet non-compliance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747501" y="609600"/>
            <a:ext cx="2834609" cy="1599009"/>
          </a:xfrm>
          <a:prstGeom prst="rect">
            <a:avLst/>
          </a:prstGeom>
          <a:solidFill>
            <a:srgbClr val="1F4FD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096" y="838200"/>
            <a:ext cx="472468" cy="472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76096" y="1405533"/>
            <a:ext cx="2377420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2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Drowsiness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760497" y="2360910"/>
            <a:ext cx="2834609" cy="1599208"/>
          </a:xfrm>
          <a:prstGeom prst="rect">
            <a:avLst/>
          </a:prstGeom>
          <a:solidFill>
            <a:srgbClr val="1F4FD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091" y="2589510"/>
            <a:ext cx="472468" cy="472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89091" y="3156843"/>
            <a:ext cx="2377420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2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Alcohol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8747501" y="2360910"/>
            <a:ext cx="2834609" cy="1599208"/>
          </a:xfrm>
          <a:prstGeom prst="rect">
            <a:avLst/>
          </a:prstGeom>
          <a:solidFill>
            <a:srgbClr val="1F4FD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096" y="2589510"/>
            <a:ext cx="472468" cy="472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76096" y="3156843"/>
            <a:ext cx="2377420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2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Impact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5760497" y="4112419"/>
            <a:ext cx="5821614" cy="1599009"/>
          </a:xfrm>
          <a:prstGeom prst="rect">
            <a:avLst/>
          </a:prstGeom>
          <a:solidFill>
            <a:srgbClr val="1F4FD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091" y="4341019"/>
            <a:ext cx="472468" cy="472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89091" y="4908352"/>
            <a:ext cx="5364425" cy="28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42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Delayed help</a:t>
            </a:r>
            <a:endParaRPr lang="en-US" sz="1650" dirty="0"/>
          </a:p>
        </p:txBody>
      </p:sp>
      <p:sp>
        <p:nvSpPr>
          <p:cNvPr id="20" name="Shape 13"/>
          <p:cNvSpPr/>
          <p:nvPr/>
        </p:nvSpPr>
        <p:spPr>
          <a:xfrm>
            <a:off x="5760497" y="5857379"/>
            <a:ext cx="5821614" cy="1004094"/>
          </a:xfrm>
          <a:prstGeom prst="rect">
            <a:avLst/>
          </a:prstGeom>
          <a:solidFill>
            <a:srgbClr val="1E8F5A"/>
          </a:solidFill>
          <a:ln/>
        </p:spPr>
      </p:sp>
      <p:sp>
        <p:nvSpPr>
          <p:cNvPr id="21" name="Text 14"/>
          <p:cNvSpPr/>
          <p:nvPr/>
        </p:nvSpPr>
        <p:spPr>
          <a:xfrm>
            <a:off x="6014490" y="6111379"/>
            <a:ext cx="531362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00140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project brings these checks into one wearable system instead of separate devices.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68549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ONE WEARABLE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37134"/>
            <a:ext cx="10972526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helmet. Four safety layers.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642096"/>
            <a:ext cx="533386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Authenticate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3208933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rider with RC522 RFID.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48244" y="2642096"/>
            <a:ext cx="533386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Assess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48244" y="3208933"/>
            <a:ext cx="53338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helmet use and visible drowsiness with ESP32-CAM + VLM.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4118173"/>
            <a:ext cx="533386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Monitor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585" y="4685010"/>
            <a:ext cx="53338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alcohol, light, motion, vibration, GPS, and system state.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48244" y="4118173"/>
            <a:ext cx="533386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Escalate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48244" y="4685010"/>
            <a:ext cx="53338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probable crash through cancellation logic and Telegram.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system architecture is built around two ESP32 nodes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60277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1E8F5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4285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 node fuses safety state and sensor input. The other sees the rider.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585" y="2723158"/>
            <a:ext cx="3454314" cy="2353072"/>
          </a:xfrm>
          <a:prstGeom prst="rect">
            <a:avLst/>
          </a:prstGeom>
          <a:solidFill>
            <a:srgbClr val="E3F3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951758"/>
            <a:ext cx="1046335" cy="3366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7656" y="3016448"/>
            <a:ext cx="139696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NODE 01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8179" y="3374132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729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ESP32 DevKit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8179" y="3940969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7293A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Sensor fusion, safety state, OLED, buzzer, RFID, GPS, dashboard.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368691" y="2723158"/>
            <a:ext cx="3454314" cy="2353072"/>
          </a:xfrm>
          <a:prstGeom prst="rect">
            <a:avLst/>
          </a:prstGeom>
          <a:solidFill>
            <a:srgbClr val="E3F3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951758"/>
            <a:ext cx="1046335" cy="3366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6762" y="3016448"/>
            <a:ext cx="139696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NODE 02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97285" y="3374132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729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ESP32-CAM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97285" y="3940969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7293A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Rider image capture and helmet/drowsiness analysis.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8127797" y="2723158"/>
            <a:ext cx="3454314" cy="2353072"/>
          </a:xfrm>
          <a:prstGeom prst="rect">
            <a:avLst/>
          </a:prstGeom>
          <a:solidFill>
            <a:srgbClr val="E3F3F5"/>
          </a:solidFill>
          <a:ln/>
        </p:spPr>
      </p:sp>
      <p:sp>
        <p:nvSpPr>
          <p:cNvPr id="17" name="Text 13"/>
          <p:cNvSpPr/>
          <p:nvPr/>
        </p:nvSpPr>
        <p:spPr>
          <a:xfrm>
            <a:off x="8356391" y="2951758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7293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Network layer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8356391" y="3518595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7293A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Wi-Fi connects camera analysis and remote Telegram alerts.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Safety starts before the ride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3150592"/>
            <a:ext cx="10972526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Authorized RFID tag changes the system from LOCKED to ARMED.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Camera check reports helmet and visible drowsiness status.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MQ-3, light, GPS, and motion inputs remain available to the controller.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LIVE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During the ride, the helmet keeps watching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48606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system combines physical signals, local feedback, and a live view of safety state.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041327"/>
            <a:ext cx="3454314" cy="4207073"/>
          </a:xfrm>
          <a:prstGeom prst="roundRect">
            <a:avLst>
              <a:gd name="adj" fmla="val 331"/>
            </a:avLst>
          </a:prstGeom>
          <a:solidFill>
            <a:srgbClr val="1F4F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269927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825552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Motion + impact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8179" y="3392388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MPU6050 tracks acceleration and tilt; vibration input supports impact detection.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691" y="2041327"/>
            <a:ext cx="3454314" cy="4207073"/>
          </a:xfrm>
          <a:prstGeom prst="roundRect">
            <a:avLst>
              <a:gd name="adj" fmla="val 331"/>
            </a:avLst>
          </a:prstGeom>
          <a:solidFill>
            <a:srgbClr val="1F4FD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269927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2825552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Local feedback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97285" y="3392388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LDR reports ambient light; OLED and buzzer provide local feedback.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27797" y="2041327"/>
            <a:ext cx="3454314" cy="4207073"/>
          </a:xfrm>
          <a:prstGeom prst="roundRect">
            <a:avLst>
              <a:gd name="adj" fmla="val 331"/>
            </a:avLst>
          </a:prstGeom>
          <a:solidFill>
            <a:srgbClr val="1F4FD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2269927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6391" y="2825552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Live dashboard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56391" y="3392388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live dashboard exposes motion, gas, GPS, safety state, and rider-check results.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71588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ACCIDENT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340173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probable crash gets a chance to be cancelled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3010595"/>
            <a:ext cx="342891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3577431"/>
            <a:ext cx="34289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Impact spike or sustained large tilt starts a PENDING countdown.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95688" y="3010595"/>
            <a:ext cx="3200320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Cancel window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95688" y="3577431"/>
            <a:ext cx="320032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rider can cancel through touch input, RFID, or the dashboard.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53196" y="3010595"/>
            <a:ext cx="342891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ALERTED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53196" y="3577431"/>
            <a:ext cx="3428914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the window expires, the system enters ALERTED and sends Telegram the latest GPS location, trigger reason, speed, and tilt.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60743" y="3010595"/>
            <a:ext cx="12700" cy="1775718"/>
          </a:xfrm>
          <a:prstGeom prst="rect">
            <a:avLst/>
          </a:prstGeom>
          <a:solidFill>
            <a:srgbClr val="1F4FD9"/>
          </a:solidFill>
          <a:ln/>
        </p:spPr>
      </p:sp>
      <p:sp>
        <p:nvSpPr>
          <p:cNvPr id="11" name="Shape 9"/>
          <p:cNvSpPr/>
          <p:nvPr/>
        </p:nvSpPr>
        <p:spPr>
          <a:xfrm>
            <a:off x="7918252" y="3010595"/>
            <a:ext cx="12700" cy="1775718"/>
          </a:xfrm>
          <a:prstGeom prst="rect">
            <a:avLst/>
          </a:prstGeom>
          <a:solidFill>
            <a:srgbClr val="1F4FD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HARDWARE CONSTELLATION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hardware is compact, but the sensing is broad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548606"/>
            <a:ext cx="5333867" cy="2234902"/>
          </a:xfrm>
          <a:prstGeom prst="roundRect">
            <a:avLst>
              <a:gd name="adj" fmla="val 511"/>
            </a:avLst>
          </a:prstGeom>
          <a:noFill/>
          <a:ln w="25399">
            <a:solidFill>
              <a:srgbClr val="B7CC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1802606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578" y="2358231"/>
            <a:ext cx="48258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nodes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3578" y="2925068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ESP32 DevKit + ESP32-CAM + OV2640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8244" y="1548606"/>
            <a:ext cx="5333867" cy="2234902"/>
          </a:xfrm>
          <a:prstGeom prst="roundRect">
            <a:avLst>
              <a:gd name="adj" fmla="val 511"/>
            </a:avLst>
          </a:prstGeom>
          <a:noFill/>
          <a:ln w="25399">
            <a:solidFill>
              <a:srgbClr val="B7CCE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37" y="1802606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2237" y="2358231"/>
            <a:ext cx="48258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Position + motion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502237" y="2925068"/>
            <a:ext cx="48258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RC522 RFID, MPU6050, vibration sensor, NEO-6M GPS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9585" y="4088309"/>
            <a:ext cx="5333867" cy="2234902"/>
          </a:xfrm>
          <a:prstGeom prst="roundRect">
            <a:avLst>
              <a:gd name="adj" fmla="val 511"/>
            </a:avLst>
          </a:prstGeom>
          <a:noFill/>
          <a:ln w="25399">
            <a:solidFill>
              <a:srgbClr val="B7CCE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78" y="4342309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3578" y="4897934"/>
            <a:ext cx="48258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Rider + environment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63578" y="5464770"/>
            <a:ext cx="48258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MQ-3 alcohol sensor, LDR, touch sensor, OLED, buzzer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48244" y="4088309"/>
            <a:ext cx="5333867" cy="2234902"/>
          </a:xfrm>
          <a:prstGeom prst="roundRect">
            <a:avLst>
              <a:gd name="adj" fmla="val 511"/>
            </a:avLst>
          </a:prstGeom>
          <a:noFill/>
          <a:ln w="25399">
            <a:solidFill>
              <a:srgbClr val="B7CCE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37" y="4342309"/>
            <a:ext cx="431789" cy="431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2237" y="4897934"/>
            <a:ext cx="482587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Physical integration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6502237" y="5464770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3D-printed helmet body for physical integration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93" y="1102717"/>
            <a:ext cx="447544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PHYSICAL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9393" y="1371302"/>
            <a:ext cx="4196054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prototype is physically assembled and testable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9393" y="3414812"/>
            <a:ext cx="4196054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completed build mounts the electronics around a 3D-printed helmet body, with the camera positioned for rider-facing capture and the controller, RFID, OLED, buzzer, GPS, gas sensor, LDR, and wiring integrated around the shell.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393" y="5418634"/>
            <a:ext cx="1966268" cy="3366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8870" y="5483324"/>
            <a:ext cx="231689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ASSEMBLED BUILD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323" y="431800"/>
            <a:ext cx="2905648" cy="1634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91323" y="2244030"/>
            <a:ext cx="290564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electronics around the helmet shell.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159" y="431800"/>
            <a:ext cx="2905747" cy="18242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54159" y="2433836"/>
            <a:ext cx="305814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Rider-facing camera and sensing hardware.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5" kern="100" dirty="0">
                <a:solidFill>
                  <a:srgbClr val="23A96A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FROM PROTOTYPE TO VALIDATION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39291"/>
            <a:ext cx="4648084" cy="121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75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this prototype proves — and what comes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4442" y="0"/>
            <a:ext cx="2781230" cy="6575723"/>
          </a:xfrm>
          <a:prstGeom prst="rect">
            <a:avLst/>
          </a:prstGeom>
          <a:solidFill>
            <a:srgbClr val="1F4F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609600"/>
            <a:ext cx="877072" cy="2988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8919" y="667048"/>
            <a:ext cx="1256872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7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PROVES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34027" y="975916"/>
            <a:ext cx="1562061" cy="1103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150" spc="-53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One connected safety path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6934027" y="2199283"/>
            <a:ext cx="1562061" cy="2743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Integrated sensing</a:t>
            </a:r>
            <a:endParaRPr lang="en-US" sz="1500" dirty="0"/>
          </a:p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Rider arming</a:t>
            </a:r>
            <a:endParaRPr lang="en-US" sz="1500" dirty="0"/>
          </a:p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Camera analysis</a:t>
            </a:r>
            <a:endParaRPr lang="en-US" sz="1500" dirty="0"/>
          </a:p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Accident cancellation</a:t>
            </a:r>
            <a:endParaRPr lang="en-US" sz="1500" dirty="0"/>
          </a:p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GPS context</a:t>
            </a:r>
            <a:endParaRPr lang="en-US" sz="1500" dirty="0"/>
          </a:p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Remote notification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410465" y="0"/>
            <a:ext cx="2781230" cy="6575723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0" name="Shape 7"/>
          <p:cNvSpPr/>
          <p:nvPr/>
        </p:nvSpPr>
        <p:spPr>
          <a:xfrm>
            <a:off x="10020049" y="609600"/>
            <a:ext cx="663558" cy="298847"/>
          </a:xfrm>
          <a:prstGeom prst="roundRect">
            <a:avLst>
              <a:gd name="adj" fmla="val 382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34942" y="667048"/>
            <a:ext cx="104335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7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NEXT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20049" y="975916"/>
            <a:ext cx="1562061" cy="7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150" spc="-53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Validate the edge cases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0020049" y="1831479"/>
            <a:ext cx="1562061" cy="4134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Validate thresholds across real riding conditions.</a:t>
            </a:r>
            <a:endParaRPr lang="en-US" sz="1500" dirty="0"/>
          </a:p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 the final wiring/dashboard evidence.</a:t>
            </a:r>
            <a:endParaRPr lang="en-US" sz="1500" dirty="0"/>
          </a:p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Replace prototype-level sensing with calibrated safety hardware where required.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2026-10-06T13:26:56Z</dcterms:created>
  <dcterms:modified xsi:type="dcterms:W3CDTF">2026-10-06T13:26:56Z</dcterms:modified>
</cp:coreProperties>
</file>